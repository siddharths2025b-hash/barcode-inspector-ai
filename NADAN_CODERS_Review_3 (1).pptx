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1DA5B-7ECB-4079-5F9A-DBB1ADDF4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D0A0F-EFA8-510E-0B8E-031BB3D2F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18411-667E-E62B-9634-C2CDB5A6C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496C8-AEE6-A6AC-F741-E3E607B29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E5136-3349-C65A-007E-5FFA20939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79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A47E0-3479-1FFF-66CB-8ADBF7808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E71B6-19B8-2973-14EF-48BED682F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54A51-66C1-78EC-2C24-D543F3E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6948C-8336-EF66-BDEA-CB8A7403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09E18-295E-A955-D4B6-A4454652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625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D7CE-D7C5-06EB-E006-01F801EE7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98467-82C6-2249-BE6A-176ABC94A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38352-A9F1-198B-4A46-B4697B985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6F1E1-673F-07A0-5134-AC691EE42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4022E-8AE6-E877-0346-2CCF4B752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0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95051-2C8A-542C-0B82-70D504CE4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B2E66-6CF9-629E-04E0-2569039C7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BA5C8-A563-677F-3698-079EBAE0D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3053B-7706-B504-1968-ECD89F720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F4D17-ABE8-60E5-382C-4B0EE4386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83080-DE80-FE40-2738-6A09A25C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189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85AE9-E4A6-FEBB-0E72-844D0A7A3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C9F35-3135-13A4-578A-D469A780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DCBAA-8A20-35F6-D6AB-60052DC6F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83836A-E936-891F-62D8-E6CB86335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225731-DC9A-FA4A-487D-38B6DE6A89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16FD5E-CB44-5846-EEA1-D1C8EA684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8C876C-7FA4-0F77-EB25-C60B38EA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BE98D9-0355-2F19-FFB3-4A8A660E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340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CD9C3-14BF-2339-7C70-9B112E447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431708-9339-693B-EB09-EE1495DCD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47F3EC-45D6-9C39-CFB5-1A70F5820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5E030-B9FE-3271-3B62-7D2795932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090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90E6D-EE73-B225-FE42-436FE24B5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B46A4-E200-04FD-C06E-86445B1EC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37B18-6D51-B4B9-631C-1A570CA8E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076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E5808-F16B-15F6-62C5-42855053E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32DCD-9FC9-DC87-704D-1B1B8845C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531E-69C7-8457-29A2-45BAE598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6F79D-BFC8-87C1-E768-BA1CC9CED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096D9-A490-154E-7FAE-DC37BD514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565B4-C9A8-BCB7-0DED-CA00149D4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098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5190-91FB-C962-60DA-32C8D1FC8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64B1AA-0120-E4C6-93F2-80B3CBC5CD0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FD83A-5CDA-8BE9-FF98-4998E4129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2CA48-F229-A07D-9C6D-2E7D0E6A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C3818-E1E4-257F-6759-ECF862255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12398-DA6E-0F1B-142C-8BB8504E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09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88704-F939-D9E4-C884-1C33A7F98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2B525-4FA9-E399-248F-A35CBFD41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9D146-5487-230E-0C7E-BFD028C8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D055B-F109-7613-EB54-94C3A986E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92858-E304-2069-23F1-BA0DB5884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680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FD0AB0-8D90-E6AA-E36C-56AFD3E0D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EDD837-5E29-D9CE-AE2F-94CDBEF1D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D7E2-BD66-A2CA-E7B0-53A8C7403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0201-7B29-5046-F53D-A92B3E59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695AF-C6B6-550F-8244-9859DE1F4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4879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D426D-04E8-09FB-B415-1C2AB0683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6019E-9E60-CC9C-B932-D09FBD203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FAF81-9BA7-9F9E-6731-7FBA6413D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6680D-D952-4AA2-9B84-7200A1BADF5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6F043-7BB4-DBBE-6ABC-3E51496B1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A5E84-EDC2-9BF8-F37C-75EFF9198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A2B2F-CF39-4B2A-8626-7CC38AD3A1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378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D6419-37C7-8452-6E39-C378985E0E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 b="1">
                <a:solidFill>
                  <a:srgbClr val="162B4D"/>
                </a:solidFill>
                <a:latin typeface="Aptos Display"/>
              </a:defRPr>
            </a:pPr>
            <a:r>
              <a:t>NADAN CODERS</a:t>
            </a:r>
          </a:p>
          <a:p>
            <a:pPr>
              <a:defRPr sz="2800">
                <a:solidFill>
                  <a:srgbClr val="2A68AA"/>
                </a:solidFill>
                <a:latin typeface="Aptos Display"/>
              </a:defRPr>
            </a:pPr>
            <a:r>
              <a:t>Barcode Image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40FECA-A7D1-3CF5-F9D7-5F0E475BE9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900">
                <a:solidFill>
                  <a:srgbClr val="5B6B7E"/>
                </a:solidFill>
                <a:latin typeface="Aptos"/>
              </a:defRPr>
            </a:pPr>
            <a:r>
              <a:t>Jonadh Thomas  |  Siddharth S</a:t>
            </a:r>
          </a:p>
          <a:p>
            <a:pPr>
              <a:defRPr sz="1200" b="1">
                <a:solidFill>
                  <a:srgbClr val="209CAA"/>
                </a:solidFill>
                <a:latin typeface="Aptos"/>
              </a:defRPr>
            </a:pPr>
            <a:r>
              <a:t>REVIEW 3  •  AI /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025200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645920"/>
            <a:ext cx="5257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THE PROBLEM</a:t>
            </a:r>
          </a:p>
          <a:p>
            <a:pPr>
              <a:spcAft>
                <a:spcPts val="3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Barcode images may be affected by glare, scratches, bubbles, discoloration, or uneven coatings.</a:t>
            </a:r>
            <a:br/>
            <a:br/>
            <a:r>
              <a:t>Human annotation can introduce incorrect labels, known as label noise.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91640"/>
            <a:ext cx="73152" cy="1737360"/>
          </a:xfrm>
          <a:prstGeom prst="rect">
            <a:avLst/>
          </a:prstGeom>
          <a:solidFill>
            <a:srgbClr val="2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57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WHY IT MATTERS</a:t>
            </a:r>
          </a:p>
          <a:p>
            <a:pPr>
              <a:spcAft>
                <a:spcPts val="300"/>
              </a:spcAft>
              <a:defRPr sz="1600">
                <a:solidFill>
                  <a:srgbClr val="232D3A"/>
                </a:solidFill>
                <a:latin typeface="Aptos"/>
              </a:defRPr>
            </a:pPr>
            <a:r>
              <a:t>Incorrect labels can mislead a classifier, reduce reliability, and increase the effort needed for dataset quality control.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91640"/>
            <a:ext cx="73152" cy="1737360"/>
          </a:xfrm>
          <a:prstGeom prst="rect">
            <a:avLst/>
          </a:prstGeom>
          <a:solidFill>
            <a:srgbClr val="209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794760"/>
            <a:ext cx="107442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 bIns="109728" wrap="square"/>
          <a:lstStyle/>
          <a:p>
            <a:pPr algn="ctr">
              <a:spcAft>
                <a:spcPts val="5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3383280" cy="11430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/>
          <a:lstStyle/>
          <a:p>
            <a:pPr algn="ctr">
              <a:spcAft>
                <a:spcPts val="500"/>
              </a:spcAft>
              <a:defRPr sz="1800" b="1">
                <a:solidFill>
                  <a:srgbClr val="209CAA"/>
                </a:solidFill>
                <a:latin typeface="Aptos"/>
              </a:defRPr>
            </a:pPr>
            <a:r>
              <a:t>01</a:t>
            </a:r>
          </a:p>
          <a:p>
            <a:pPr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Organize images into Visible, Partially Visible, and Not Visible classes.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343400"/>
            <a:ext cx="3383280" cy="1143000"/>
          </a:xfrm>
          <a:prstGeom prst="roundRect">
            <a:avLst/>
          </a:prstGeom>
          <a:solidFill>
            <a:srgbClr val="E7F7F7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/>
          <a:lstStyle/>
          <a:p>
            <a:pPr algn="ctr">
              <a:spcAft>
                <a:spcPts val="500"/>
              </a:spcAft>
              <a:defRPr sz="1800" b="1">
                <a:solidFill>
                  <a:srgbClr val="209CAA"/>
                </a:solidFill>
                <a:latin typeface="Aptos"/>
              </a:defRPr>
            </a:pPr>
            <a:r>
              <a:t>02</a:t>
            </a:r>
          </a:p>
          <a:p>
            <a:pPr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Detect suspicious labels using multiple complementary methods.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343400"/>
            <a:ext cx="3383280" cy="11430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/>
          <a:lstStyle/>
          <a:p>
            <a:pPr algn="ctr">
              <a:spcAft>
                <a:spcPts val="500"/>
              </a:spcAft>
              <a:defRPr sz="1800" b="1">
                <a:solidFill>
                  <a:srgbClr val="209CAA"/>
                </a:solidFill>
                <a:latin typeface="Aptos"/>
              </a:defRPr>
            </a:pPr>
            <a:r>
              <a:t>03</a:t>
            </a:r>
          </a:p>
          <a:p>
            <a:pPr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Evaluate detection quality against known, controlled label errors.</a:t>
            </a:r>
          </a:p>
        </p:txBody>
      </p:sp>
    </p:spTree>
    <p:extLst>
      <p:ext uri="{BB962C8B-B14F-4D97-AF65-F5344CB8AC3E}">
        <p14:creationId xmlns:p14="http://schemas.microsoft.com/office/powerpoint/2010/main" val="3476461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508760"/>
            <a:ext cx="1069848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 bIns="109728" wrap="square"/>
          <a:lstStyle/>
          <a:p>
            <a:pPr algn="ctr">
              <a:spcAft>
                <a:spcPts val="500"/>
              </a:spcAft>
              <a:defRPr sz="1800" b="1">
                <a:solidFill>
                  <a:srgbClr val="162B4D"/>
                </a:solidFill>
                <a:latin typeface="Aptos"/>
              </a:defRPr>
            </a:pPr>
            <a:r>
              <a:t>A multi-method pipeline flags images whose assigned label may not match the image evidence.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423160"/>
            <a:ext cx="2331720" cy="150876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 bIns="128016" wrap="square"/>
          <a:lstStyle/>
          <a:p>
            <a:pPr algn="ctr">
              <a:spcAft>
                <a:spcPts val="500"/>
              </a:spcAft>
              <a:defRPr sz="2200" b="1">
                <a:solidFill>
                  <a:srgbClr val="209CAA"/>
                </a:solidFill>
                <a:latin typeface="Aptos"/>
              </a:defRPr>
            </a:pPr>
            <a:r>
              <a:t>1</a:t>
            </a:r>
          </a:p>
          <a:p>
            <a:pPr algn="ctr">
              <a:spcAft>
                <a:spcPts val="500"/>
              </a:spcAft>
              <a:defRPr sz="1400" b="1">
                <a:solidFill>
                  <a:srgbClr val="162B4D"/>
                </a:solidFill>
                <a:latin typeface="Aptos"/>
              </a:defRPr>
            </a:pPr>
            <a:r>
              <a:t>CLASSIFY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Estimate visibility class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90672" y="3172968"/>
            <a:ext cx="402336" cy="0"/>
          </a:xfrm>
          <a:prstGeom prst="line">
            <a:avLst/>
          </a:prstGeom>
          <a:ln w="25400">
            <a:solidFill>
              <a:srgbClr val="20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584448" y="2423160"/>
            <a:ext cx="2331720" cy="1508760"/>
          </a:xfrm>
          <a:prstGeom prst="roundRect">
            <a:avLst/>
          </a:prstGeom>
          <a:solidFill>
            <a:srgbClr val="E7F7F7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 bIns="128016" wrap="square"/>
          <a:lstStyle/>
          <a:p>
            <a:pPr algn="ctr">
              <a:spcAft>
                <a:spcPts val="500"/>
              </a:spcAft>
              <a:defRPr sz="2200" b="1">
                <a:solidFill>
                  <a:srgbClr val="209CAA"/>
                </a:solidFill>
                <a:latin typeface="Aptos"/>
              </a:defRPr>
            </a:pPr>
            <a:r>
              <a:t>2</a:t>
            </a:r>
          </a:p>
          <a:p>
            <a:pPr algn="ctr">
              <a:spcAft>
                <a:spcPts val="500"/>
              </a:spcAft>
              <a:defRPr sz="1400" b="1">
                <a:solidFill>
                  <a:srgbClr val="162B4D"/>
                </a:solidFill>
                <a:latin typeface="Aptos"/>
              </a:defRPr>
            </a:pPr>
            <a:r>
              <a:t>CHECK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Run 3 noise detectors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0" y="3172968"/>
            <a:ext cx="402336" cy="0"/>
          </a:xfrm>
          <a:prstGeom prst="line">
            <a:avLst/>
          </a:prstGeom>
          <a:ln w="25400">
            <a:solidFill>
              <a:srgbClr val="20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37376" y="2423160"/>
            <a:ext cx="2331720" cy="150876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 bIns="128016" wrap="square"/>
          <a:lstStyle/>
          <a:p>
            <a:pPr algn="ctr">
              <a:spcAft>
                <a:spcPts val="500"/>
              </a:spcAft>
              <a:defRPr sz="2200" b="1">
                <a:solidFill>
                  <a:srgbClr val="209CAA"/>
                </a:solidFill>
                <a:latin typeface="Aptos"/>
              </a:defRPr>
            </a:pPr>
            <a:r>
              <a:t>3</a:t>
            </a:r>
          </a:p>
          <a:p>
            <a:pPr algn="ctr">
              <a:spcAft>
                <a:spcPts val="500"/>
              </a:spcAft>
              <a:defRPr sz="1400" b="1">
                <a:solidFill>
                  <a:srgbClr val="162B4D"/>
                </a:solidFill>
                <a:latin typeface="Aptos"/>
              </a:defRPr>
            </a:pPr>
            <a:r>
              <a:t>AGREE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Flag when ≥2 methods agree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96528" y="3172968"/>
            <a:ext cx="402336" cy="0"/>
          </a:xfrm>
          <a:prstGeom prst="line">
            <a:avLst/>
          </a:prstGeom>
          <a:ln w="25400">
            <a:solidFill>
              <a:srgbClr val="20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290304" y="2423160"/>
            <a:ext cx="2331720" cy="1508760"/>
          </a:xfrm>
          <a:prstGeom prst="roundRect">
            <a:avLst/>
          </a:prstGeom>
          <a:solidFill>
            <a:srgbClr val="E7F7F7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128016" bIns="128016" wrap="square"/>
          <a:lstStyle/>
          <a:p>
            <a:pPr algn="ctr">
              <a:spcAft>
                <a:spcPts val="500"/>
              </a:spcAft>
              <a:defRPr sz="2200" b="1">
                <a:solidFill>
                  <a:srgbClr val="209CAA"/>
                </a:solidFill>
                <a:latin typeface="Aptos"/>
              </a:defRPr>
            </a:pPr>
            <a:r>
              <a:t>4</a:t>
            </a:r>
          </a:p>
          <a:p>
            <a:pPr algn="ctr">
              <a:spcAft>
                <a:spcPts val="500"/>
              </a:spcAft>
              <a:defRPr sz="1400" b="1">
                <a:solidFill>
                  <a:srgbClr val="162B4D"/>
                </a:solidFill>
                <a:latin typeface="Aptos"/>
              </a:defRPr>
            </a:pPr>
            <a:r>
              <a:t>VERIFY</a:t>
            </a:r>
          </a:p>
          <a:p>
            <a:pPr algn="ctr">
              <a:spcAft>
                <a:spcPts val="5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Human review of suspicious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KEY INNOVATION</a:t>
            </a:r>
          </a:p>
          <a:p>
            <a:pPr>
              <a:spcAft>
                <a:spcPts val="3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Combine confident learning, loss outliers, and cross-validation disagreement instead of trusting one signal.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34840"/>
            <a:ext cx="73152" cy="1051560"/>
          </a:xfrm>
          <a:prstGeom prst="rect">
            <a:avLst/>
          </a:prstGeom>
          <a:solidFill>
            <a:srgbClr val="209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438912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SAFETY CHECK</a:t>
            </a:r>
          </a:p>
          <a:p>
            <a:pPr>
              <a:spcAft>
                <a:spcPts val="3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Flagging is not proof of an error; uncertain samples are sent for human verification.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4434840"/>
            <a:ext cx="73152" cy="1051560"/>
          </a:xfrm>
          <a:prstGeom prst="rect">
            <a:avLst/>
          </a:prstGeom>
          <a:solidFill>
            <a:srgbClr val="E8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942956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2011680"/>
            <a:ext cx="1993392" cy="164592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 wrap="square"/>
          <a:lstStyle/>
          <a:p>
            <a:pPr algn="ctr">
              <a:spcAft>
                <a:spcPts val="500"/>
              </a:spcAft>
              <a:defRPr sz="1400" b="1">
                <a:solidFill>
                  <a:srgbClr val="162B4D"/>
                </a:solidFill>
                <a:latin typeface="Aptos"/>
              </a:defRPr>
            </a:pPr>
            <a:r>
              <a:t>INPUT DATA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</a:p>
          <a:p>
            <a:pPr algn="ct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1,200 images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3 visibility classes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423160" y="2834640"/>
            <a:ext cx="301752" cy="0"/>
          </a:xfrm>
          <a:prstGeom prst="line">
            <a:avLst/>
          </a:prstGeom>
          <a:ln w="25400">
            <a:solidFill>
              <a:srgbClr val="20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807208" y="2011680"/>
            <a:ext cx="1993392" cy="1645920"/>
          </a:xfrm>
          <a:prstGeom prst="roundRect">
            <a:avLst/>
          </a:prstGeom>
          <a:solidFill>
            <a:srgbClr val="E7F7F7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 wrap="square"/>
          <a:lstStyle/>
          <a:p>
            <a:pPr algn="ctr">
              <a:spcAft>
                <a:spcPts val="500"/>
              </a:spcAft>
              <a:defRPr sz="1400" b="1">
                <a:solidFill>
                  <a:srgbClr val="162B4D"/>
                </a:solidFill>
                <a:latin typeface="Aptos"/>
              </a:defRPr>
            </a:pPr>
            <a:r>
              <a:t>PREPROCESS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</a:p>
          <a:p>
            <a:pPr algn="ct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Resize / normalize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Extract image features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18888" y="2834640"/>
            <a:ext cx="301752" cy="0"/>
          </a:xfrm>
          <a:prstGeom prst="line">
            <a:avLst/>
          </a:prstGeom>
          <a:ln w="25400">
            <a:solidFill>
              <a:srgbClr val="20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202936" y="2011680"/>
            <a:ext cx="1993392" cy="164592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 wrap="square"/>
          <a:lstStyle/>
          <a:p>
            <a:pPr algn="ctr">
              <a:spcAft>
                <a:spcPts val="500"/>
              </a:spcAft>
              <a:defRPr sz="1400" b="1">
                <a:solidFill>
                  <a:srgbClr val="162B4D"/>
                </a:solidFill>
                <a:latin typeface="Aptos"/>
              </a:defRPr>
            </a:pPr>
            <a:r>
              <a:t>DETECT NOISE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</a:p>
          <a:p>
            <a:pPr algn="ct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Cleanlab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High loss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5-fold disagreement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214616" y="2834640"/>
            <a:ext cx="301752" cy="0"/>
          </a:xfrm>
          <a:prstGeom prst="line">
            <a:avLst/>
          </a:prstGeom>
          <a:ln w="25400">
            <a:solidFill>
              <a:srgbClr val="20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598664" y="2011680"/>
            <a:ext cx="1993392" cy="1645920"/>
          </a:xfrm>
          <a:prstGeom prst="roundRect">
            <a:avLst/>
          </a:prstGeom>
          <a:solidFill>
            <a:srgbClr val="E7F7F7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 wrap="square"/>
          <a:lstStyle/>
          <a:p>
            <a:pPr algn="ctr">
              <a:spcAft>
                <a:spcPts val="500"/>
              </a:spcAft>
              <a:defRPr sz="1400" b="1">
                <a:solidFill>
                  <a:srgbClr val="162B4D"/>
                </a:solidFill>
                <a:latin typeface="Aptos"/>
              </a:defRPr>
            </a:pPr>
            <a:r>
              <a:t>ENSEMBLE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</a:p>
          <a:p>
            <a:pPr algn="ct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Flag if ≥2 methods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agree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10344" y="2834640"/>
            <a:ext cx="301752" cy="0"/>
          </a:xfrm>
          <a:prstGeom prst="line">
            <a:avLst/>
          </a:prstGeom>
          <a:ln w="25400">
            <a:solidFill>
              <a:srgbClr val="209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994392" y="2011680"/>
            <a:ext cx="1993392" cy="164592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 bIns="109728" wrap="square"/>
          <a:lstStyle/>
          <a:p>
            <a:pPr algn="ctr">
              <a:spcAft>
                <a:spcPts val="500"/>
              </a:spcAft>
              <a:defRPr sz="1400" b="1">
                <a:solidFill>
                  <a:srgbClr val="162B4D"/>
                </a:solidFill>
                <a:latin typeface="Aptos"/>
              </a:defRPr>
            </a:pPr>
            <a:r>
              <a:t>EVALUATE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</a:p>
          <a:p>
            <a:pPr algn="ct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Precision / recall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F1 / test 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51960"/>
            <a:ext cx="1069848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 bIns="109728" wrap="square"/>
          <a:lstStyle/>
          <a:p>
            <a:pPr algn="ctr">
              <a:spcAft>
                <a:spcPts val="500"/>
              </a:spcAft>
              <a:defRPr sz="1600" b="1">
                <a:solidFill>
                  <a:srgbClr val="162B4D"/>
                </a:solidFill>
                <a:latin typeface="Aptos"/>
              </a:defRPr>
            </a:pPr>
            <a:r>
              <a:t>CONTROLLED EVALUATION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09160"/>
            <a:ext cx="10698480" cy="77724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137160" bIns="137160" wrap="square"/>
          <a:lstStyle/>
          <a:p>
            <a:pPr algn="ctr">
              <a:spcAft>
                <a:spcPts val="500"/>
              </a:spcAft>
              <a:defRPr sz="1500" b="0">
                <a:solidFill>
                  <a:srgbClr val="232D3A"/>
                </a:solidFill>
                <a:latin typeface="Aptos"/>
              </a:defRPr>
            </a:pPr>
            <a:r>
              <a:t>Start from a verified subset → flip a known portion of training labels → compare detected flags with ground truth → measure detection and classification performance.</a:t>
            </a:r>
          </a:p>
        </p:txBody>
      </p:sp>
    </p:spTree>
    <p:extLst>
      <p:ext uri="{BB962C8B-B14F-4D97-AF65-F5344CB8AC3E}">
        <p14:creationId xmlns:p14="http://schemas.microsoft.com/office/powerpoint/2010/main" val="766005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73736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Language &amp; environment</a:t>
            </a:r>
          </a:p>
          <a:p>
            <a:pPr>
              <a:spcAft>
                <a:spcPts val="3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Python 3.9+  •  Google Colab / Jupyter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783080"/>
            <a:ext cx="73152" cy="1417319"/>
          </a:xfrm>
          <a:prstGeom prst="rect">
            <a:avLst/>
          </a:prstGeom>
          <a:solidFill>
            <a:srgbClr val="2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9120" y="173736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Deep learning</a:t>
            </a:r>
          </a:p>
          <a:p>
            <a:pPr>
              <a:spcAft>
                <a:spcPts val="3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PyTorch  •  ResNet-18 / MobileNetV2 candidates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783080"/>
            <a:ext cx="73152" cy="1417319"/>
          </a:xfrm>
          <a:prstGeom prst="rect">
            <a:avLst/>
          </a:prstGeom>
          <a:solidFill>
            <a:srgbClr val="209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2440" y="173736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Noise detection</a:t>
            </a:r>
          </a:p>
          <a:p>
            <a:pPr>
              <a:spcAft>
                <a:spcPts val="3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Cleanlab  •  loss-based outliers  •  5-fold disagreement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1783080"/>
            <a:ext cx="73152" cy="1417319"/>
          </a:xfrm>
          <a:prstGeom prst="rect">
            <a:avLst/>
          </a:prstGeom>
          <a:solidFill>
            <a:srgbClr val="E8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370332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Data &amp; image tools</a:t>
            </a:r>
          </a:p>
          <a:p>
            <a:pPr>
              <a:spcAft>
                <a:spcPts val="3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NumPy  •  Pandas  •  Pillow  •  Torchvision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749039"/>
            <a:ext cx="73152" cy="1417319"/>
          </a:xfrm>
          <a:prstGeom prst="rect">
            <a:avLst/>
          </a:prstGeom>
          <a:solidFill>
            <a:srgbClr val="2C8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370332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Evaluation</a:t>
            </a:r>
          </a:p>
          <a:p>
            <a:pPr>
              <a:spcAft>
                <a:spcPts val="3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Scikit-learn  •  precision  •  recall  •  F1-score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749039"/>
            <a:ext cx="73152" cy="1417319"/>
          </a:xfrm>
          <a:prstGeom prst="rect">
            <a:avLst/>
          </a:prstGeom>
          <a:solidFill>
            <a:srgbClr val="2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2440" y="370332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Visualization</a:t>
            </a:r>
          </a:p>
          <a:p>
            <a:pPr>
              <a:spcAft>
                <a:spcPts val="3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Matplotlib  •  Seaborn  •  suspicious-sample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3749039"/>
            <a:ext cx="73152" cy="1417319"/>
          </a:xfrm>
          <a:prstGeom prst="rect">
            <a:avLst/>
          </a:prstGeom>
          <a:solidFill>
            <a:srgbClr val="209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 bIns="109728" wrap="square"/>
          <a:lstStyle/>
          <a:p>
            <a:pPr algn="ctr">
              <a:spcAft>
                <a:spcPts val="500"/>
              </a:spcAft>
              <a:defRPr sz="1200" b="0">
                <a:solidFill>
                  <a:srgbClr val="5B6B7E"/>
                </a:solidFill>
                <a:latin typeface="Aptos"/>
              </a:defRPr>
            </a:pPr>
            <a:r>
              <a:t>Implementation status: dataset + controlled noise + three detection methods + initial evaluation reported.</a:t>
            </a:r>
          </a:p>
        </p:txBody>
      </p:sp>
    </p:spTree>
    <p:extLst>
      <p:ext uri="{BB962C8B-B14F-4D97-AF65-F5344CB8AC3E}">
        <p14:creationId xmlns:p14="http://schemas.microsoft.com/office/powerpoint/2010/main" val="3881684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60020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Balanced dataset</a:t>
            </a:r>
          </a:p>
          <a:p>
            <a:pPr>
              <a:spcAft>
                <a:spcPts val="300"/>
              </a:spcAft>
              <a:defRPr sz="1300">
                <a:solidFill>
                  <a:srgbClr val="232D3A"/>
                </a:solidFill>
                <a:latin typeface="Aptos"/>
              </a:defRPr>
            </a:pPr>
            <a:r>
              <a:t>1,200 images • 400 per visibility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73152" cy="1051560"/>
          </a:xfrm>
          <a:prstGeom prst="rect">
            <a:avLst/>
          </a:prstGeom>
          <a:solidFill>
            <a:srgbClr val="2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0" y="160020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Defect simulation</a:t>
            </a:r>
          </a:p>
          <a:p>
            <a:pPr>
              <a:spcAft>
                <a:spcPts val="300"/>
              </a:spcAft>
              <a:defRPr sz="1300">
                <a:solidFill>
                  <a:srgbClr val="232D3A"/>
                </a:solidFill>
                <a:latin typeface="Aptos"/>
              </a:defRPr>
            </a:pPr>
            <a:r>
              <a:t>Glare, bubbles, yellowing, resin pooling, abrasion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73152" cy="1051560"/>
          </a:xfrm>
          <a:prstGeom prst="rect">
            <a:avLst/>
          </a:prstGeom>
          <a:solidFill>
            <a:srgbClr val="209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Controlled label noise</a:t>
            </a:r>
          </a:p>
          <a:p>
            <a:pPr>
              <a:spcAft>
                <a:spcPts val="300"/>
              </a:spcAft>
              <a:defRPr sz="1300">
                <a:solidFill>
                  <a:srgbClr val="232D3A"/>
                </a:solidFill>
                <a:latin typeface="Aptos"/>
              </a:defRPr>
            </a:pPr>
            <a:r>
              <a:t>15% injected noise • 125 flipped training samples reported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63239"/>
            <a:ext cx="73152" cy="1051560"/>
          </a:xfrm>
          <a:prstGeom prst="rect">
            <a:avLst/>
          </a:prstGeom>
          <a:solidFill>
            <a:srgbClr val="E8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301752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Multi-method detection</a:t>
            </a:r>
          </a:p>
          <a:p>
            <a:pPr>
              <a:spcAft>
                <a:spcPts val="300"/>
              </a:spcAft>
              <a:defRPr sz="1300">
                <a:solidFill>
                  <a:srgbClr val="232D3A"/>
                </a:solidFill>
                <a:latin typeface="Aptos"/>
              </a:defRPr>
            </a:pPr>
            <a:r>
              <a:t>Cleanlab + loss outliers + 5-fold disagreement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063239"/>
            <a:ext cx="73152" cy="1051560"/>
          </a:xfrm>
          <a:prstGeom prst="rect">
            <a:avLst/>
          </a:prstGeom>
          <a:solidFill>
            <a:srgbClr val="2C8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43484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Consensus flagging</a:t>
            </a:r>
          </a:p>
          <a:p>
            <a:pPr>
              <a:spcAft>
                <a:spcPts val="300"/>
              </a:spcAft>
              <a:defRPr sz="1300">
                <a:solidFill>
                  <a:srgbClr val="232D3A"/>
                </a:solidFill>
                <a:latin typeface="Aptos"/>
              </a:defRPr>
            </a:pPr>
            <a:r>
              <a:t>Flag when at least 2 methods agree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80559"/>
            <a:ext cx="73152" cy="1051560"/>
          </a:xfrm>
          <a:prstGeom prst="rect">
            <a:avLst/>
          </a:prstGeom>
          <a:solidFill>
            <a:srgbClr val="2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443484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Human-in-the-loop</a:t>
            </a:r>
          </a:p>
          <a:p>
            <a:pPr>
              <a:spcAft>
                <a:spcPts val="300"/>
              </a:spcAft>
              <a:defRPr sz="1300">
                <a:solidFill>
                  <a:srgbClr val="232D3A"/>
                </a:solidFill>
                <a:latin typeface="Aptos"/>
              </a:defRPr>
            </a:pPr>
            <a:r>
              <a:t>Review suspicious samples before changing labels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480559"/>
            <a:ext cx="73152" cy="1051560"/>
          </a:xfrm>
          <a:prstGeom prst="rect">
            <a:avLst/>
          </a:prstGeom>
          <a:solidFill>
            <a:srgbClr val="209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5989320"/>
            <a:ext cx="1828800" cy="310896"/>
          </a:xfrm>
          <a:prstGeom prst="roundRect">
            <a:avLst/>
          </a:prstGeom>
          <a:solidFill>
            <a:srgbClr val="2C8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9144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CURRENT PROTOTYPE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5925312"/>
            <a:ext cx="850392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 bIns="109728" wrap="square"/>
          <a:lstStyle/>
          <a:p>
            <a:pPr algn="ctr">
              <a:spcAft>
                <a:spcPts val="500"/>
              </a:spcAft>
              <a:defRPr sz="1200" b="0">
                <a:solidFill>
                  <a:srgbClr val="5B6B7E"/>
                </a:solidFill>
                <a:latin typeface="Aptos"/>
              </a:defRPr>
            </a:pPr>
            <a:r>
              <a:t>The pipeline is experimental; flagged labels require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786118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508760"/>
            <a:ext cx="1069848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 bIns="109728" wrap="square"/>
          <a:lstStyle/>
          <a:p>
            <a:pPr algn="ctr">
              <a:spcAft>
                <a:spcPts val="500"/>
              </a:spcAft>
              <a:defRPr sz="1800" b="1">
                <a:solidFill>
                  <a:srgbClr val="162B4D"/>
                </a:solidFill>
                <a:latin typeface="Aptos"/>
              </a:defRPr>
            </a:pPr>
            <a:r>
              <a:t>Suggested live-demo sequence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48840"/>
            <a:ext cx="2103120" cy="530352"/>
          </a:xfrm>
          <a:prstGeom prst="roundRect">
            <a:avLst/>
          </a:prstGeom>
          <a:solidFill>
            <a:srgbClr val="2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01  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54680" y="2148840"/>
            <a:ext cx="7955279" cy="530352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rIns="118872" tIns="118872" bIns="118872" wrap="square"/>
          <a:lstStyle/>
          <a:p>
            <a:pPr algn="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Load the labelled barcode dataset.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98648"/>
            <a:ext cx="2103120" cy="530352"/>
          </a:xfrm>
          <a:prstGeom prst="roundRect">
            <a:avLst/>
          </a:prstGeom>
          <a:solidFill>
            <a:srgbClr val="2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02 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2898648"/>
            <a:ext cx="7955279" cy="530352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rIns="118872" tIns="118872" bIns="118872" wrap="square"/>
          <a:lstStyle/>
          <a:p>
            <a:pPr algn="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Run the three label-noise detectors.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48456"/>
            <a:ext cx="2103120" cy="530352"/>
          </a:xfrm>
          <a:prstGeom prst="roundRect">
            <a:avLst/>
          </a:prstGeom>
          <a:solidFill>
            <a:srgbClr val="2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03  COMPARE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3648456"/>
            <a:ext cx="7955279" cy="530352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rIns="118872" tIns="118872" bIns="118872" wrap="square"/>
          <a:lstStyle/>
          <a:p>
            <a:pPr algn="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Compare flagged samples with injected-noise ground truth.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398264"/>
            <a:ext cx="2103120" cy="530352"/>
          </a:xfrm>
          <a:prstGeom prst="roundRect">
            <a:avLst/>
          </a:prstGeom>
          <a:solidFill>
            <a:srgbClr val="2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ctr">
              <a:spcAft>
                <a:spcPts val="5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04 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4398264"/>
            <a:ext cx="7955279" cy="530352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8872" rIns="118872" tIns="118872" bIns="118872" wrap="square"/>
          <a:lstStyle/>
          <a:p>
            <a:pPr algn="r">
              <a:spcAft>
                <a:spcPts val="500"/>
              </a:spcAft>
              <a:defRPr sz="1400" b="0">
                <a:solidFill>
                  <a:srgbClr val="232D3A"/>
                </a:solidFill>
                <a:latin typeface="Aptos"/>
              </a:defRPr>
            </a:pPr>
            <a:r>
              <a:t>Show detection metrics and cleaned-data test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440680"/>
            <a:ext cx="10287000" cy="685800"/>
          </a:xfrm>
          <a:prstGeom prst="roundRect">
            <a:avLst/>
          </a:prstGeom>
          <a:solidFill>
            <a:srgbClr val="E7F7F7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146304" bIns="146304" wrap="square"/>
          <a:lstStyle/>
          <a:p>
            <a:pPr algn="ctr">
              <a:spcAft>
                <a:spcPts val="500"/>
              </a:spcAft>
              <a:defRPr sz="1400" b="1">
                <a:solidFill>
                  <a:srgbClr val="162B4D"/>
                </a:solidFill>
                <a:latin typeface="Aptos"/>
              </a:defRPr>
            </a:pPr>
            <a:r>
              <a:t>Reported initial results: 114/125 injected label errors detected (91.2% recall); test accuracy increased from 80.00% to 82.22% after retraining.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199632"/>
            <a:ext cx="102412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 bIns="109728" wrap="square"/>
          <a:lstStyle/>
          <a:p>
            <a:pPr algn="ctr">
              <a:spcAft>
                <a:spcPts val="500"/>
              </a:spcAft>
              <a:defRPr sz="1000" b="0">
                <a:solidFill>
                  <a:srgbClr val="BE4E4E"/>
                </a:solidFill>
                <a:latin typeface="Aptos"/>
              </a:defRPr>
            </a:pPr>
            <a:r>
              <a:t>Only present live outputs that you can reproduce from your current code.</a:t>
            </a:r>
          </a:p>
        </p:txBody>
      </p:sp>
    </p:spTree>
    <p:extLst>
      <p:ext uri="{BB962C8B-B14F-4D97-AF65-F5344CB8AC3E}">
        <p14:creationId xmlns:p14="http://schemas.microsoft.com/office/powerpoint/2010/main" val="4227693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737360"/>
            <a:ext cx="1143000" cy="310896"/>
          </a:xfrm>
          <a:prstGeom prst="roundRect">
            <a:avLst/>
          </a:prstGeom>
          <a:solidFill>
            <a:srgbClr val="2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9144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21408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Benchmark models</a:t>
            </a:r>
          </a:p>
          <a:p>
            <a:pPr>
              <a:spcAft>
                <a:spcPts val="300"/>
              </a:spcAft>
              <a:defRPr sz="1300">
                <a:solidFill>
                  <a:srgbClr val="232D3A"/>
                </a:solidFill>
                <a:latin typeface="Aptos"/>
              </a:defRPr>
            </a:pPr>
            <a:r>
              <a:t>Fine-tune and compare ResNet-18 and MobileNetV2.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67127"/>
            <a:ext cx="73152" cy="1051560"/>
          </a:xfrm>
          <a:prstGeom prst="rect">
            <a:avLst/>
          </a:prstGeom>
          <a:solidFill>
            <a:srgbClr val="2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1143000" cy="310896"/>
          </a:xfrm>
          <a:prstGeom prst="roundRect">
            <a:avLst/>
          </a:prstGeom>
          <a:solidFill>
            <a:srgbClr val="209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9144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21408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Test noise levels</a:t>
            </a:r>
          </a:p>
          <a:p>
            <a:pPr>
              <a:spcAft>
                <a:spcPts val="300"/>
              </a:spcAft>
              <a:defRPr sz="1300">
                <a:solidFill>
                  <a:srgbClr val="232D3A"/>
                </a:solidFill>
                <a:latin typeface="Aptos"/>
              </a:defRPr>
            </a:pPr>
            <a:r>
              <a:t>Evaluate 5%, 10%, 15%, and 20% label noise.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167127"/>
            <a:ext cx="73152" cy="1051560"/>
          </a:xfrm>
          <a:prstGeom prst="rect">
            <a:avLst/>
          </a:prstGeom>
          <a:solidFill>
            <a:srgbClr val="209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143000" cy="310896"/>
          </a:xfrm>
          <a:prstGeom prst="roundRect">
            <a:avLst/>
          </a:prstGeom>
          <a:solidFill>
            <a:srgbClr val="E8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9144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PRODUCTIZE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50208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Build dashboard</a:t>
            </a:r>
          </a:p>
          <a:p>
            <a:pPr>
              <a:spcAft>
                <a:spcPts val="300"/>
              </a:spcAft>
              <a:defRPr sz="1300">
                <a:solidFill>
                  <a:srgbClr val="232D3A"/>
                </a:solidFill>
                <a:latin typeface="Aptos"/>
              </a:defRPr>
            </a:pPr>
            <a:r>
              <a:t>Create a Streamlit interface for batch upload and review.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95928"/>
            <a:ext cx="73152" cy="1051560"/>
          </a:xfrm>
          <a:prstGeom prst="rect">
            <a:avLst/>
          </a:prstGeom>
          <a:solidFill>
            <a:srgbClr val="E8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3566160"/>
            <a:ext cx="1143000" cy="310896"/>
          </a:xfrm>
          <a:prstGeom prst="roundRect">
            <a:avLst/>
          </a:prstGeom>
          <a:solidFill>
            <a:srgbClr val="2C8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9144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50208"/>
            <a:ext cx="5074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Measure resources</a:t>
            </a:r>
          </a:p>
          <a:p>
            <a:pPr>
              <a:spcAft>
                <a:spcPts val="300"/>
              </a:spcAft>
              <a:defRPr sz="1300">
                <a:solidFill>
                  <a:srgbClr val="232D3A"/>
                </a:solidFill>
                <a:latin typeface="Aptos"/>
              </a:defRPr>
            </a:pPr>
            <a:r>
              <a:t>Record runtime and memory on larger datasets.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95928"/>
            <a:ext cx="73152" cy="1051560"/>
          </a:xfrm>
          <a:prstGeom prst="rect">
            <a:avLst/>
          </a:prstGeom>
          <a:solidFill>
            <a:srgbClr val="2C8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760720"/>
            <a:ext cx="1051560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 bIns="109728" wrap="square"/>
          <a:lstStyle/>
          <a:p>
            <a:pPr algn="ctr">
              <a:spcAft>
                <a:spcPts val="500"/>
              </a:spcAft>
              <a:defRPr sz="1300" b="1">
                <a:solidFill>
                  <a:srgbClr val="5B6B7E"/>
                </a:solidFill>
                <a:latin typeface="Aptos"/>
              </a:defRPr>
            </a:pPr>
            <a:r>
              <a:t>Priority: reproducible experiments first, then model comparison and user interface.</a:t>
            </a:r>
          </a:p>
        </p:txBody>
      </p:sp>
    </p:spTree>
    <p:extLst>
      <p:ext uri="{BB962C8B-B14F-4D97-AF65-F5344CB8AC3E}">
        <p14:creationId xmlns:p14="http://schemas.microsoft.com/office/powerpoint/2010/main" val="3266645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1600200"/>
            <a:ext cx="10698480" cy="68580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82880" bIns="182880" wrap="square"/>
          <a:lstStyle/>
          <a:p>
            <a:pPr algn="ctr">
              <a:spcAft>
                <a:spcPts val="500"/>
              </a:spcAft>
              <a:defRPr sz="2200" b="1">
                <a:solidFill>
                  <a:srgbClr val="162B4D"/>
                </a:solidFill>
                <a:latin typeface="Aptos"/>
              </a:defRPr>
            </a:pPr>
            <a:r>
              <a:t>A practical approach to improving the reliability of barcode image datasets.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606040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WHAT IS IN PLACE</a:t>
            </a:r>
          </a:p>
          <a:p>
            <a:pPr>
              <a:spcAft>
                <a:spcPts val="3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Balanced dataset, controlled label noise, and three complementary detection methods.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651760"/>
            <a:ext cx="73152" cy="1508760"/>
          </a:xfrm>
          <a:prstGeom prst="rect">
            <a:avLst/>
          </a:prstGeom>
          <a:solidFill>
            <a:srgbClr val="2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0" y="2606040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EARLY EVIDENCE</a:t>
            </a:r>
          </a:p>
          <a:p>
            <a:pPr>
              <a:spcAft>
                <a:spcPts val="3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91.2% recall on injected label errors and a reported +2.22 percentage-point test-accuracy gain.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2651760"/>
            <a:ext cx="73152" cy="1508760"/>
          </a:xfrm>
          <a:prstGeom prst="rect">
            <a:avLst/>
          </a:prstGeom>
          <a:solidFill>
            <a:srgbClr val="209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0" y="2606040"/>
            <a:ext cx="33832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46304" tIns="146304" bIns="73152"/>
          <a:lstStyle/>
          <a:p>
            <a:pPr algn="ctr">
              <a:spcAft>
                <a:spcPts val="700"/>
              </a:spcAft>
              <a:defRPr sz="1700" b="1">
                <a:solidFill>
                  <a:srgbClr val="162B4D"/>
                </a:solidFill>
                <a:latin typeface="Aptos Display"/>
              </a:defRPr>
            </a:pPr>
            <a:r>
              <a:t>WHAT REMAINS</a:t>
            </a:r>
          </a:p>
          <a:p>
            <a:pPr>
              <a:spcAft>
                <a:spcPts val="300"/>
              </a:spcAft>
              <a:defRPr sz="1400">
                <a:solidFill>
                  <a:srgbClr val="232D3A"/>
                </a:solidFill>
                <a:latin typeface="Aptos"/>
              </a:defRPr>
            </a:pPr>
            <a:r>
              <a:t>Model benchmarking, multi-noise validation, runtime/memory tests, and dashboard.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651760"/>
            <a:ext cx="73152" cy="1508760"/>
          </a:xfrm>
          <a:prstGeom prst="rect">
            <a:avLst/>
          </a:prstGeom>
          <a:solidFill>
            <a:srgbClr val="E8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698480" cy="822960"/>
          </a:xfrm>
          <a:prstGeom prst="roundRect">
            <a:avLst/>
          </a:prstGeom>
          <a:solidFill>
            <a:srgbClr val="E7F7F7"/>
          </a:solidFill>
          <a:ln w="12700">
            <a:solidFill>
              <a:srgbClr val="D7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>
              <a:spcAft>
                <a:spcPts val="500"/>
              </a:spcAft>
              <a:defRPr sz="1700" b="1">
                <a:solidFill>
                  <a:srgbClr val="232D3A"/>
                </a:solidFill>
                <a:latin typeface="Aptos"/>
              </a:defRPr>
            </a:pPr>
            <a:r>
              <a:t>Our goal is to rank suspicious labels for verification—not to assume every flagged image is incorrect.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91440" bIns="91440" wrap="square"/>
          <a:lstStyle/>
          <a:p>
            <a:pPr algn="ctr">
              <a:spcAft>
                <a:spcPts val="500"/>
              </a:spcAft>
              <a:defRPr sz="1800" b="1">
                <a:solidFill>
                  <a:srgbClr val="162B4D"/>
                </a:solidFill>
                <a:latin typeface="Aptos"/>
              </a:defRPr>
            </a:pPr>
            <a:r>
              <a:t>THANK YOU  •  Questions?</a:t>
            </a:r>
          </a:p>
        </p:txBody>
      </p:sp>
    </p:spTree>
    <p:extLst>
      <p:ext uri="{BB962C8B-B14F-4D97-AF65-F5344CB8AC3E}">
        <p14:creationId xmlns:p14="http://schemas.microsoft.com/office/powerpoint/2010/main" val="3966108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123</Words>
  <Application>Microsoft Office PowerPoint</Application>
  <PresentationFormat>Widescreen</PresentationFormat>
  <Paragraphs>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Team Name Problem Statement Title</vt:lpstr>
      <vt:lpstr>Problem Statement &amp; Objectives</vt:lpstr>
      <vt:lpstr>Proposed Solution &amp; Key Innovation</vt:lpstr>
      <vt:lpstr>System Architecture &amp; Workflow</vt:lpstr>
      <vt:lpstr>Technology Stack &amp; Implementation</vt:lpstr>
      <vt:lpstr>Key Features &amp; Functionalities</vt:lpstr>
      <vt:lpstr>Live Demo / Working Prototype</vt:lpstr>
      <vt:lpstr>Future Scope</vt:lpstr>
      <vt:lpstr>Conclusion</vt:lpstr>
      <vt:lpstr>include the following evidence in relevant technical slides as well as per track selected.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ASHHMAN SODHI</dc:creator>
  <cp:lastModifiedBy>ASHHMAN SODHI</cp:lastModifiedBy>
  <cp:revision>1</cp:revision>
  <dcterms:created xsi:type="dcterms:W3CDTF">2026-10-24T21:22:49Z</dcterms:created>
  <dcterms:modified xsi:type="dcterms:W3CDTF">2026-10-24T21:25:40Z</dcterms:modified>
</cp:coreProperties>
</file>